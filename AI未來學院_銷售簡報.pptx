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7CFFB2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5B8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</a:t>
            </a:r>
            <a:pPr indent="0" marL="0">
              <a:buNone/>
            </a:pPr>
            <a:r>
              <a:rPr lang="en-US" sz="4400" b="1" dirty="0">
                <a:solidFill>
                  <a:srgbClr val="7CF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未來學院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 AI 重新定義你的職涯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2651760"/>
            <a:ext cx="1371600" cy="36576"/>
          </a:xfrm>
          <a:prstGeom prst="rect">
            <a:avLst/>
          </a:prstGeom>
          <a:solidFill>
            <a:srgbClr val="7CFFB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063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CF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3520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會員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0" y="3063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CF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200+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743200" y="3520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工具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3063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CF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48h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754880" y="3520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每週內容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66560" y="3063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CF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766560" y="3520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職涯應用率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4114800"/>
            <a:ext cx="2377440" cy="502920"/>
          </a:xfrm>
          <a:prstGeom prst="roundRect">
            <a:avLst>
              <a:gd name="adj" fmla="val 50909"/>
            </a:avLst>
          </a:prstGeom>
          <a:solidFill>
            <a:srgbClr val="7CFFB2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114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909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立即加入  →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F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時代的挑戰與機遇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人工智慧正在重塑每一個產業，採取行動的時機就是現在。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57400"/>
            <a:ext cx="7680960" cy="822960"/>
          </a:xfrm>
          <a:prstGeom prst="roundRect">
            <a:avLst>
              <a:gd name="adj" fmla="val 13333"/>
            </a:avLst>
          </a:prstGeom>
          <a:solidFill>
            <a:srgbClr val="111118"/>
          </a:solidFill>
          <a:ln w="9525">
            <a:solidFill>
              <a:srgbClr val="2A2A3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2402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148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市場爆發成長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91640" y="2468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2030年全球 AI 市場規模預計超過一兆美元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" y="3017520"/>
            <a:ext cx="7680960" cy="822960"/>
          </a:xfrm>
          <a:prstGeom prst="roundRect">
            <a:avLst>
              <a:gd name="adj" fmla="val 13333"/>
            </a:avLst>
          </a:prstGeom>
          <a:solidFill>
            <a:srgbClr val="111118"/>
          </a:solidFill>
          <a:ln w="9525">
            <a:solidFill>
              <a:srgbClr val="2A2A3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20040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3108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 工作將被影響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691640" y="34290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麥肯錫報告指出大量工作內容將被 AI 輔助或取代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731520" y="3977640"/>
            <a:ext cx="7680960" cy="822960"/>
          </a:xfrm>
          <a:prstGeom prst="roundRect">
            <a:avLst>
              <a:gd name="adj" fmla="val 13333"/>
            </a:avLst>
          </a:prstGeom>
          <a:solidFill>
            <a:srgbClr val="111118"/>
          </a:solidFill>
          <a:ln w="9525">
            <a:solidFill>
              <a:srgbClr val="2A2A3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16052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91640" y="4069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早期採用者優勢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691640" y="43891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掌握 AI 工具的人才薪資漲幅平均高出 30%+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F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POINTS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職場人士面臨的 AI 焦慮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3520440" cy="1097280"/>
          </a:xfrm>
          <a:prstGeom prst="roundRect">
            <a:avLst>
              <a:gd name="adj" fmla="val 10000"/>
            </a:avLst>
          </a:prstGeom>
          <a:solidFill>
            <a:srgbClr val="111118"/>
          </a:solidFill>
          <a:ln w="9525">
            <a:solidFill>
              <a:srgbClr val="2A2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194560"/>
            <a:ext cx="502920" cy="502920"/>
          </a:xfrm>
          <a:prstGeom prst="ellipse">
            <a:avLst/>
          </a:prstGeom>
          <a:solidFill>
            <a:srgbClr val="1A1A2E"/>
          </a:solidFill>
          <a:ln w="19050">
            <a:solidFill>
              <a:srgbClr val="FF9F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103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工具太多，不知選哪個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45920" y="2468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市場上數百種 AI 工具，缺乏系統化整理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520" y="3200400"/>
            <a:ext cx="3520440" cy="1097280"/>
          </a:xfrm>
          <a:prstGeom prst="roundRect">
            <a:avLst>
              <a:gd name="adj" fmla="val 10000"/>
            </a:avLst>
          </a:prstGeom>
          <a:solidFill>
            <a:srgbClr val="111118"/>
          </a:solidFill>
          <a:ln w="9525">
            <a:solidFill>
              <a:srgbClr val="2A2A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3474720"/>
            <a:ext cx="502920" cy="502920"/>
          </a:xfrm>
          <a:prstGeom prst="ellipse">
            <a:avLst/>
          </a:prstGeom>
          <a:solidFill>
            <a:srgbClr val="1A1A2E"/>
          </a:solidFill>
          <a:ln w="19050">
            <a:solidFill>
              <a:srgbClr val="FF9F4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45920" y="3383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學了但不知道怎麼用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45920" y="37490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看了教學影片印不知如何應用在工作中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434840" y="1920240"/>
            <a:ext cx="3520440" cy="1097280"/>
          </a:xfrm>
          <a:prstGeom prst="roundRect">
            <a:avLst>
              <a:gd name="adj" fmla="val 10000"/>
            </a:avLst>
          </a:prstGeom>
          <a:solidFill>
            <a:srgbClr val="111118"/>
          </a:solidFill>
          <a:ln w="9525">
            <a:solidFill>
              <a:srgbClr val="2A2A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194560"/>
            <a:ext cx="502920" cy="502920"/>
          </a:xfrm>
          <a:prstGeom prst="ellipse">
            <a:avLst/>
          </a:prstGeom>
          <a:solidFill>
            <a:srgbClr val="1A1A2E"/>
          </a:solidFill>
          <a:ln w="19050">
            <a:solidFill>
              <a:srgbClr val="FF9F4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349240" y="2103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缺乏實戰作品集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49240" y="2468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沒有真實專案經驗，履歷難以證明 AI 能力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434840" y="3200400"/>
            <a:ext cx="3520440" cy="1097280"/>
          </a:xfrm>
          <a:prstGeom prst="roundRect">
            <a:avLst>
              <a:gd name="adj" fmla="val 10000"/>
            </a:avLst>
          </a:prstGeom>
          <a:solidFill>
            <a:srgbClr val="111118"/>
          </a:solidFill>
          <a:ln w="9525">
            <a:solidFill>
              <a:srgbClr val="2A2A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3474720"/>
            <a:ext cx="502920" cy="502920"/>
          </a:xfrm>
          <a:prstGeom prst="ellipse">
            <a:avLst/>
          </a:prstGeom>
          <a:solidFill>
            <a:srgbClr val="1A1A2E"/>
          </a:solidFill>
          <a:ln w="19050">
            <a:solidFill>
              <a:srgbClr val="FF9F4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49240" y="3383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孤軍奮鬥，缺乏支援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49240" y="37490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自學效率低，遇到問題沒人可問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F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未來學院｜一站式 AI 學習平台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從知識學習、工具實戰、專案合作到職涯發展，全方位支援你的 AI 轉型之路。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1874520" cy="2194560"/>
          </a:xfrm>
          <a:prstGeom prst="roundRect">
            <a:avLst>
              <a:gd name="adj" fmla="val 5854"/>
            </a:avLst>
          </a:prstGeom>
          <a:solidFill>
            <a:srgbClr val="111118"/>
          </a:solidFill>
          <a:ln w="9525">
            <a:solidFill>
              <a:srgbClr val="2A2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25880" y="2331720"/>
            <a:ext cx="685800" cy="685800"/>
          </a:xfrm>
          <a:prstGeom prst="ellipse">
            <a:avLst/>
          </a:prstGeom>
          <a:solidFill>
            <a:srgbClr val="1A1A2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752" y="2450592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2004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知識學習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68680" y="35661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每日更新 · 碎片化吸收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834640" y="2103120"/>
            <a:ext cx="1874520" cy="2194560"/>
          </a:xfrm>
          <a:prstGeom prst="roundRect">
            <a:avLst>
              <a:gd name="adj" fmla="val 5854"/>
            </a:avLst>
          </a:prstGeom>
          <a:solidFill>
            <a:srgbClr val="111118"/>
          </a:solidFill>
          <a:ln w="9525">
            <a:solidFill>
              <a:srgbClr val="2A2A3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29000" y="2331720"/>
            <a:ext cx="685800" cy="685800"/>
          </a:xfrm>
          <a:prstGeom prst="ellipse">
            <a:avLst/>
          </a:prstGeom>
          <a:solidFill>
            <a:srgbClr val="1A1A2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7872" y="2450592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71800" y="32004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工具實戰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2971800" y="35661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200+ 工具 · 手把手教學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937760" y="2103120"/>
            <a:ext cx="1874520" cy="2194560"/>
          </a:xfrm>
          <a:prstGeom prst="roundRect">
            <a:avLst>
              <a:gd name="adj" fmla="val 5854"/>
            </a:avLst>
          </a:prstGeom>
          <a:solidFill>
            <a:srgbClr val="111118"/>
          </a:solidFill>
          <a:ln w="9525">
            <a:solidFill>
              <a:srgbClr val="2A2A3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532120" y="2331720"/>
            <a:ext cx="685800" cy="685800"/>
          </a:xfrm>
          <a:prstGeom prst="ellipse">
            <a:avLst/>
          </a:prstGeom>
          <a:solidFill>
            <a:srgbClr val="1A1A2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0992" y="2450592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074920" y="32004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專案合作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5074920" y="35661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真實專案 · 作品集累積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7040880" y="2103120"/>
            <a:ext cx="1874520" cy="2194560"/>
          </a:xfrm>
          <a:prstGeom prst="roundRect">
            <a:avLst>
              <a:gd name="adj" fmla="val 5854"/>
            </a:avLst>
          </a:prstGeom>
          <a:solidFill>
            <a:srgbClr val="111118"/>
          </a:solidFill>
          <a:ln w="9525">
            <a:solidFill>
              <a:srgbClr val="2A2A3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635240" y="2331720"/>
            <a:ext cx="685800" cy="685800"/>
          </a:xfrm>
          <a:prstGeom prst="ellipse">
            <a:avLst/>
          </a:prstGeom>
          <a:solidFill>
            <a:srgbClr val="1A1A2E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4112" y="2450592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78040" y="32004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職涯發展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7178040" y="35661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1-on-1 導師 · 職涯規劃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F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SERVICES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八大核心服務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1828800" cy="1280160"/>
          </a:xfrm>
          <a:prstGeom prst="roundRect">
            <a:avLst>
              <a:gd name="adj" fmla="val 8571"/>
            </a:avLst>
          </a:prstGeom>
          <a:solidFill>
            <a:srgbClr val="111118"/>
          </a:solidFill>
          <a:ln w="9525">
            <a:solidFill>
              <a:srgbClr val="2A2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1920240"/>
            <a:ext cx="548640" cy="548640"/>
          </a:xfrm>
          <a:prstGeom prst="ellipse">
            <a:avLst/>
          </a:prstGeom>
          <a:solidFill>
            <a:srgbClr val="1A1A2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20116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5603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每日 AI 知識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788920" y="1737360"/>
            <a:ext cx="1828800" cy="1280160"/>
          </a:xfrm>
          <a:prstGeom prst="roundRect">
            <a:avLst>
              <a:gd name="adj" fmla="val 8571"/>
            </a:avLst>
          </a:prstGeom>
          <a:solidFill>
            <a:srgbClr val="111118"/>
          </a:solidFill>
          <a:ln w="9525">
            <a:solidFill>
              <a:srgbClr val="2A2A3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29000" y="1920240"/>
            <a:ext cx="548640" cy="548640"/>
          </a:xfrm>
          <a:prstGeom prst="ellipse">
            <a:avLst/>
          </a:prstGeom>
          <a:solidFill>
            <a:srgbClr val="1A1A2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201168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880360" y="25603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每週實戰課程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846320" y="1737360"/>
            <a:ext cx="1828800" cy="1280160"/>
          </a:xfrm>
          <a:prstGeom prst="roundRect">
            <a:avLst>
              <a:gd name="adj" fmla="val 8571"/>
            </a:avLst>
          </a:prstGeom>
          <a:solidFill>
            <a:srgbClr val="111118"/>
          </a:solidFill>
          <a:ln w="9525">
            <a:solidFill>
              <a:srgbClr val="2A2A3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486400" y="1920240"/>
            <a:ext cx="548640" cy="548640"/>
          </a:xfrm>
          <a:prstGeom prst="ellipse">
            <a:avLst/>
          </a:prstGeom>
          <a:solidFill>
            <a:srgbClr val="1A1A2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201168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937760" y="25603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每月大師班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903720" y="1737360"/>
            <a:ext cx="1828800" cy="1280160"/>
          </a:xfrm>
          <a:prstGeom prst="roundRect">
            <a:avLst>
              <a:gd name="adj" fmla="val 8571"/>
            </a:avLst>
          </a:prstGeom>
          <a:solidFill>
            <a:srgbClr val="111118"/>
          </a:solidFill>
          <a:ln w="9525">
            <a:solidFill>
              <a:srgbClr val="2A2A3A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543800" y="1920240"/>
            <a:ext cx="548640" cy="548640"/>
          </a:xfrm>
          <a:prstGeom prst="ellipse">
            <a:avLst/>
          </a:prstGeom>
          <a:solidFill>
            <a:srgbClr val="1A1A2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240" y="201168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95160" y="25603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工具庫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731520" y="3246120"/>
            <a:ext cx="1828800" cy="1280160"/>
          </a:xfrm>
          <a:prstGeom prst="roundRect">
            <a:avLst>
              <a:gd name="adj" fmla="val 8571"/>
            </a:avLst>
          </a:prstGeom>
          <a:solidFill>
            <a:srgbClr val="111118"/>
          </a:solidFill>
          <a:ln w="9525">
            <a:solidFill>
              <a:srgbClr val="2A2A3A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371600" y="3429000"/>
            <a:ext cx="548640" cy="548640"/>
          </a:xfrm>
          <a:prstGeom prst="ellipse">
            <a:avLst/>
          </a:prstGeom>
          <a:solidFill>
            <a:srgbClr val="1A1A2E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3040" y="3520440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22960" y="40690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一對一導師制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2788920" y="3246120"/>
            <a:ext cx="1828800" cy="1280160"/>
          </a:xfrm>
          <a:prstGeom prst="roundRect">
            <a:avLst>
              <a:gd name="adj" fmla="val 8571"/>
            </a:avLst>
          </a:prstGeom>
          <a:solidFill>
            <a:srgbClr val="111118"/>
          </a:solidFill>
          <a:ln w="9525">
            <a:solidFill>
              <a:srgbClr val="2A2A3A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3429000" y="3429000"/>
            <a:ext cx="548640" cy="548640"/>
          </a:xfrm>
          <a:prstGeom prst="ellipse">
            <a:avLst/>
          </a:prstGeom>
          <a:solidFill>
            <a:srgbClr val="1A1A2E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0440" y="3520440"/>
            <a:ext cx="365760" cy="3657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2880360" y="40690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專案媒合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4846320" y="3246120"/>
            <a:ext cx="1828800" cy="1280160"/>
          </a:xfrm>
          <a:prstGeom prst="roundRect">
            <a:avLst>
              <a:gd name="adj" fmla="val 8571"/>
            </a:avLst>
          </a:prstGeom>
          <a:solidFill>
            <a:srgbClr val="111118"/>
          </a:solidFill>
          <a:ln w="9525">
            <a:solidFill>
              <a:srgbClr val="2A2A3A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5486400" y="3429000"/>
            <a:ext cx="548640" cy="548640"/>
          </a:xfrm>
          <a:prstGeom prst="ellipse">
            <a:avLst/>
          </a:prstGeom>
          <a:solidFill>
            <a:srgbClr val="1A1A2E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77840" y="3520440"/>
            <a:ext cx="365760" cy="36576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4937760" y="40690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學員社群</a:t>
            </a:r>
            <a:endParaRPr lang="en-US" sz="1200" dirty="0"/>
          </a:p>
        </p:txBody>
      </p:sp>
      <p:sp>
        <p:nvSpPr>
          <p:cNvPr id="32" name="Shape 23"/>
          <p:cNvSpPr/>
          <p:nvPr/>
        </p:nvSpPr>
        <p:spPr>
          <a:xfrm>
            <a:off x="6903720" y="3246120"/>
            <a:ext cx="1828800" cy="1280160"/>
          </a:xfrm>
          <a:prstGeom prst="roundRect">
            <a:avLst>
              <a:gd name="adj" fmla="val 8571"/>
            </a:avLst>
          </a:prstGeom>
          <a:solidFill>
            <a:srgbClr val="111118"/>
          </a:solidFill>
          <a:ln w="9525">
            <a:solidFill>
              <a:srgbClr val="2A2A3A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7543800" y="3429000"/>
            <a:ext cx="548640" cy="548640"/>
          </a:xfrm>
          <a:prstGeom prst="ellipse">
            <a:avLst/>
          </a:prstGeom>
          <a:solidFill>
            <a:srgbClr val="1A1A2E"/>
          </a:solidFill>
          <a:ln/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35240" y="3520440"/>
            <a:ext cx="365760" cy="36576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6995160" y="40690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行政支援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F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LEARNING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每日 AI 知識｜碎片化學習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每天提供精選 AI 文章與音頻，讓你利用通勤時間就能保持前沿。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4884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2103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每日更新精選 AI 資訊與趨勢分析</a:t>
            </a:r>
            <a:endParaRPr lang="en-US" sz="12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74320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43000" y="26974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音頻版本，通勤、運動時都能聽</a:t>
            </a:r>
            <a:endParaRPr lang="en-US" sz="12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33756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43000" y="3291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涵蓋 ChatGPT、Claude、Gemini 等各大平台</a:t>
            </a:r>
            <a:endParaRPr lang="en-US" sz="12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931920"/>
            <a:ext cx="274320" cy="2743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43000" y="3886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實用技巧與案例分享</a:t>
            </a:r>
            <a:endParaRPr lang="en-US" sz="1250" dirty="0"/>
          </a:p>
        </p:txBody>
      </p:sp>
      <p:sp>
        <p:nvSpPr>
          <p:cNvPr id="13" name="Shape 7"/>
          <p:cNvSpPr/>
          <p:nvPr/>
        </p:nvSpPr>
        <p:spPr>
          <a:xfrm>
            <a:off x="5669280" y="1920240"/>
            <a:ext cx="2926080" cy="2560320"/>
          </a:xfrm>
          <a:prstGeom prst="roundRect">
            <a:avLst>
              <a:gd name="adj" fmla="val 4286"/>
            </a:avLst>
          </a:prstGeom>
          <a:solidFill>
            <a:srgbClr val="111118"/>
          </a:solidFill>
          <a:ln w="9525">
            <a:solidFill>
              <a:srgbClr val="2A2A3A"/>
            </a:solidFill>
            <a:prstDash val="solid"/>
          </a:ln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0" y="2194560"/>
            <a:ext cx="640080" cy="64008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943600" y="3017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F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每日 5 分鐘</a:t>
            </a:r>
            <a:endParaRPr lang="en-US" sz="1800" dirty="0"/>
          </a:p>
        </p:txBody>
      </p:sp>
      <p:sp>
        <p:nvSpPr>
          <p:cNvPr id="16" name="Text 9"/>
          <p:cNvSpPr/>
          <p:nvPr/>
        </p:nvSpPr>
        <p:spPr>
          <a:xfrm>
            <a:off x="5943600" y="3383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輕鬆掌握 AI 新知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F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COURSES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每週實戰課程｜系統化 AI 工具教學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每週提供結構化課程，從基礎到進階，手把手帶你實際操作。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2560320" cy="1051560"/>
          </a:xfrm>
          <a:prstGeom prst="roundRect">
            <a:avLst>
              <a:gd name="adj" fmla="val 10435"/>
            </a:avLst>
          </a:prstGeom>
          <a:solidFill>
            <a:srgbClr val="111118"/>
          </a:solidFill>
          <a:ln w="9525">
            <a:solidFill>
              <a:srgbClr val="2A2A3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4231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3317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寫作與內容創作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520440" y="2103120"/>
            <a:ext cx="2560320" cy="1051560"/>
          </a:xfrm>
          <a:prstGeom prst="roundRect">
            <a:avLst>
              <a:gd name="adj" fmla="val 10435"/>
            </a:avLst>
          </a:prstGeom>
          <a:solidFill>
            <a:srgbClr val="111118"/>
          </a:solidFill>
          <a:ln w="9525">
            <a:solidFill>
              <a:srgbClr val="2A2A3A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24231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251960" y="23317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自動化工作流設計 (n8n)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309360" y="2103120"/>
            <a:ext cx="2560320" cy="1051560"/>
          </a:xfrm>
          <a:prstGeom prst="roundRect">
            <a:avLst>
              <a:gd name="adj" fmla="val 10435"/>
            </a:avLst>
          </a:prstGeom>
          <a:solidFill>
            <a:srgbClr val="111118"/>
          </a:solidFill>
          <a:ln w="9525">
            <a:solidFill>
              <a:srgbClr val="2A2A3A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242316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040880" y="23317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圖像與影片製作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731520" y="3383280"/>
            <a:ext cx="2560320" cy="1051560"/>
          </a:xfrm>
          <a:prstGeom prst="roundRect">
            <a:avLst>
              <a:gd name="adj" fmla="val 10435"/>
            </a:avLst>
          </a:prstGeom>
          <a:solidFill>
            <a:srgbClr val="111118"/>
          </a:solidFill>
          <a:ln w="9525">
            <a:solidFill>
              <a:srgbClr val="2A2A3A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3703320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63040" y="36118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數據分析與報告生成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3520440" y="3383280"/>
            <a:ext cx="2560320" cy="1051560"/>
          </a:xfrm>
          <a:prstGeom prst="roundRect">
            <a:avLst>
              <a:gd name="adj" fmla="val 10435"/>
            </a:avLst>
          </a:prstGeom>
          <a:solidFill>
            <a:srgbClr val="111118"/>
          </a:solidFill>
          <a:ln w="9525">
            <a:solidFill>
              <a:srgbClr val="2A2A3A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9040" y="3703320"/>
            <a:ext cx="365760" cy="36576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251960" y="36118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 實戰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6309360" y="3383280"/>
            <a:ext cx="2560320" cy="1051560"/>
          </a:xfrm>
          <a:prstGeom prst="roundRect">
            <a:avLst>
              <a:gd name="adj" fmla="val 10435"/>
            </a:avLst>
          </a:prstGeom>
          <a:solidFill>
            <a:srgbClr val="111118"/>
          </a:solidFill>
          <a:ln w="9525">
            <a:solidFill>
              <a:srgbClr val="2A2A3A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7960" y="3703320"/>
            <a:ext cx="365760" cy="36576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040880" y="36118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專案開發完整流程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F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MASTERCLASS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每月大師班｜業界頂尖專家分享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邀請各領域 AI 專家與業界領袖，帶來最前沿的見解與實踐經驗。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57400"/>
            <a:ext cx="7680960" cy="777240"/>
          </a:xfrm>
          <a:prstGeom prst="roundRect">
            <a:avLst>
              <a:gd name="adj" fmla="val 14118"/>
            </a:avLst>
          </a:prstGeom>
          <a:solidFill>
            <a:srgbClr val="111118"/>
          </a:solidFill>
          <a:ln w="9525">
            <a:solidFill>
              <a:srgbClr val="2A2A3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2402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業界專家親自授課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645920" y="2468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來自 Google、Microsoft、新創公司等頂尖人才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" y="2971800"/>
            <a:ext cx="7680960" cy="777240"/>
          </a:xfrm>
          <a:prstGeom prst="roundRect">
            <a:avLst>
              <a:gd name="adj" fmla="val 14118"/>
            </a:avLst>
          </a:prstGeom>
          <a:solidFill>
            <a:srgbClr val="111118"/>
          </a:solidFill>
          <a:ln w="9525">
            <a:solidFill>
              <a:srgbClr val="2A2A3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15468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45920" y="3063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線上 LIVE 即時互動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645920" y="33832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即時提問、即時解答，深度學習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731520" y="3886200"/>
            <a:ext cx="7680960" cy="777240"/>
          </a:xfrm>
          <a:prstGeom prst="roundRect">
            <a:avLst>
              <a:gd name="adj" fmla="val 14118"/>
            </a:avLst>
          </a:prstGeom>
          <a:solidFill>
            <a:srgbClr val="111118"/>
          </a:solidFill>
          <a:ln w="9525">
            <a:solidFill>
              <a:srgbClr val="2A2A3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06908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45920" y="3977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獨家內容與录影回放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645920" y="4297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錯過也不擔心，隨時複習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F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TOOL LIBRARY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工具庫｜200+ 工具一站式掌握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2560320" cy="2560320"/>
          </a:xfrm>
          <a:prstGeom prst="roundRect">
            <a:avLst>
              <a:gd name="adj" fmla="val 4286"/>
            </a:avLst>
          </a:prstGeom>
          <a:solidFill>
            <a:srgbClr val="111118"/>
          </a:solidFill>
          <a:ln w="9525">
            <a:solidFill>
              <a:srgbClr val="2A2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0" y="2103120"/>
            <a:ext cx="640080" cy="640080"/>
          </a:xfrm>
          <a:prstGeom prst="ellipse">
            <a:avLst/>
          </a:prstGeom>
          <a:solidFill>
            <a:srgbClr val="1A1A2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648" y="2212848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工具導覽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33375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超過 200 種 AI 工具分類整理，快速找到最適合的工具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566160" y="1828800"/>
            <a:ext cx="2560320" cy="2560320"/>
          </a:xfrm>
          <a:prstGeom prst="roundRect">
            <a:avLst>
              <a:gd name="adj" fmla="val 4286"/>
            </a:avLst>
          </a:prstGeom>
          <a:solidFill>
            <a:srgbClr val="111118"/>
          </a:solidFill>
          <a:ln w="9525">
            <a:solidFill>
              <a:srgbClr val="2A2A3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80560" y="2103120"/>
            <a:ext cx="640080" cy="640080"/>
          </a:xfrm>
          <a:prstGeom prst="ellipse">
            <a:avLst/>
          </a:prstGeom>
          <a:solidFill>
            <a:srgbClr val="1A1A2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0288" y="2212848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49040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 自動化模板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749040" y="33375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現成自動化工作流模板，一鍵導入即可使用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400800" y="1828800"/>
            <a:ext cx="2560320" cy="2560320"/>
          </a:xfrm>
          <a:prstGeom prst="roundRect">
            <a:avLst>
              <a:gd name="adj" fmla="val 4286"/>
            </a:avLst>
          </a:prstGeom>
          <a:solidFill>
            <a:srgbClr val="111118"/>
          </a:solidFill>
          <a:ln w="9525">
            <a:solidFill>
              <a:srgbClr val="2A2A3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0" y="2103120"/>
            <a:ext cx="640080" cy="640080"/>
          </a:xfrm>
          <a:prstGeom prst="ellipse">
            <a:avLst/>
          </a:prstGeom>
          <a:solidFill>
            <a:srgbClr val="1A1A2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4928" y="2212848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83680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資料庫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583680" y="33375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分類整理的專業 Prompt，提升 AI 輸出品質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F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MENTORSHIP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一對一導師制｜個人化職涯指導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專屬導師為你量身打造學習路徑，加速你的 AI 轉型。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194560"/>
            <a:ext cx="1874520" cy="1828800"/>
          </a:xfrm>
          <a:prstGeom prst="roundRect">
            <a:avLst>
              <a:gd name="adj" fmla="val 6000"/>
            </a:avLst>
          </a:prstGeom>
          <a:solidFill>
            <a:srgbClr val="111118"/>
          </a:solidFill>
          <a:ln w="9525">
            <a:solidFill>
              <a:srgbClr val="2A2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3774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F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68680" y="28803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能力評估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004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了解你的現狀與目標</a:t>
            </a:r>
            <a:endParaRPr lang="en-US" sz="10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2834640"/>
            <a:ext cx="274320" cy="2743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834640" y="2194560"/>
            <a:ext cx="1874520" cy="1828800"/>
          </a:xfrm>
          <a:prstGeom prst="roundRect">
            <a:avLst>
              <a:gd name="adj" fmla="val 6000"/>
            </a:avLst>
          </a:prstGeom>
          <a:solidFill>
            <a:srgbClr val="111118"/>
          </a:solidFill>
          <a:ln w="9525">
            <a:solidFill>
              <a:srgbClr val="2A2A3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971800" y="23774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F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2971800" y="28803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學習規劃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971800" y="32004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制定專屬學習計畫</a:t>
            </a:r>
            <a:endParaRPr lang="en-US" sz="10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2834640"/>
            <a:ext cx="274320" cy="27432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937760" y="2194560"/>
            <a:ext cx="1874520" cy="1828800"/>
          </a:xfrm>
          <a:prstGeom prst="roundRect">
            <a:avLst>
              <a:gd name="adj" fmla="val 6000"/>
            </a:avLst>
          </a:prstGeom>
          <a:solidFill>
            <a:srgbClr val="111118"/>
          </a:solidFill>
          <a:ln w="9525">
            <a:solidFill>
              <a:srgbClr val="2A2A3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074920" y="23774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F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3"/>
          <p:cNvSpPr/>
          <p:nvPr/>
        </p:nvSpPr>
        <p:spPr>
          <a:xfrm>
            <a:off x="5074920" y="28803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定期輔導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5074920" y="32004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每週追蹤進度與反饋</a:t>
            </a:r>
            <a:endParaRPr lang="en-US" sz="105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834640"/>
            <a:ext cx="274320" cy="27432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7040880" y="2194560"/>
            <a:ext cx="1874520" cy="1828800"/>
          </a:xfrm>
          <a:prstGeom prst="roundRect">
            <a:avLst>
              <a:gd name="adj" fmla="val 6000"/>
            </a:avLst>
          </a:prstGeom>
          <a:solidFill>
            <a:srgbClr val="111118"/>
          </a:solidFill>
          <a:ln w="9525">
            <a:solidFill>
              <a:srgbClr val="2A2A3A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7178040" y="23774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F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22" name="Text 17"/>
          <p:cNvSpPr/>
          <p:nvPr/>
        </p:nvSpPr>
        <p:spPr>
          <a:xfrm>
            <a:off x="7178040" y="28803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職涯加速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7178040" y="32004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履歷優化與市場對接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F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MATCHING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專案媒合｜真實專案實戰經驗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將學習成果轉化為真實作品，建立你的 AI 作品集。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3840480" cy="1051560"/>
          </a:xfrm>
          <a:prstGeom prst="roundRect">
            <a:avLst>
              <a:gd name="adj" fmla="val 10435"/>
            </a:avLst>
          </a:prstGeom>
          <a:solidFill>
            <a:srgbClr val="111118"/>
          </a:solidFill>
          <a:ln w="9525">
            <a:solidFill>
              <a:srgbClr val="2A2A3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4231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真實客戶專案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54480" y="2606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與企業合作，解決真實問題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46320" y="2103120"/>
            <a:ext cx="3840480" cy="1051560"/>
          </a:xfrm>
          <a:prstGeom prst="roundRect">
            <a:avLst>
              <a:gd name="adj" fmla="val 10435"/>
            </a:avLst>
          </a:prstGeom>
          <a:solidFill>
            <a:srgbClr val="111118"/>
          </a:solidFill>
          <a:ln w="9525">
            <a:solidFill>
              <a:srgbClr val="2A2A3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242316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69280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團隊協作經驗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669280" y="2606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與其他學員組隊，培養合作能力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731520" y="3337560"/>
            <a:ext cx="3840480" cy="1051560"/>
          </a:xfrm>
          <a:prstGeom prst="roundRect">
            <a:avLst>
              <a:gd name="adj" fmla="val 10435"/>
            </a:avLst>
          </a:prstGeom>
          <a:solidFill>
            <a:srgbClr val="111118"/>
          </a:solidFill>
          <a:ln w="9525">
            <a:solidFill>
              <a:srgbClr val="2A2A3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65760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54480" y="3474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作品集累積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554480" y="3840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建立可展示的 AI 專案作品集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846320" y="3337560"/>
            <a:ext cx="3840480" cy="1051560"/>
          </a:xfrm>
          <a:prstGeom prst="roundRect">
            <a:avLst>
              <a:gd name="adj" fmla="val 10435"/>
            </a:avLst>
          </a:prstGeom>
          <a:solidFill>
            <a:srgbClr val="111118"/>
          </a:solidFill>
          <a:ln w="9525">
            <a:solidFill>
              <a:srgbClr val="2A2A3A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365760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669280" y="3474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推薦與認證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5669280" y="3840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完成專案獲得學院認證與推薦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F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社群力量｜學員社群互動與支持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加入 500+ 學員的活躍社群，在學習路上你永遠不孤單。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3840480" cy="1051560"/>
          </a:xfrm>
          <a:prstGeom prst="roundRect">
            <a:avLst>
              <a:gd name="adj" fmla="val 10435"/>
            </a:avLst>
          </a:prstGeom>
          <a:solidFill>
            <a:srgbClr val="111118"/>
          </a:solidFill>
          <a:ln w="9525">
            <a:solidFill>
              <a:srgbClr val="2A2A3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4231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即時討論區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54480" y="2606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隨時提問、交流心得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46320" y="2103120"/>
            <a:ext cx="3840480" cy="1051560"/>
          </a:xfrm>
          <a:prstGeom prst="roundRect">
            <a:avLst>
              <a:gd name="adj" fmla="val 10435"/>
            </a:avLst>
          </a:prstGeom>
          <a:solidFill>
            <a:srgbClr val="111118"/>
          </a:solidFill>
          <a:ln w="9525">
            <a:solidFill>
              <a:srgbClr val="2A2A3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242316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69280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定期線上聚會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669280" y="2606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每週線上交流活動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731520" y="3337560"/>
            <a:ext cx="3840480" cy="1051560"/>
          </a:xfrm>
          <a:prstGeom prst="roundRect">
            <a:avLst>
              <a:gd name="adj" fmla="val 10435"/>
            </a:avLst>
          </a:prstGeom>
          <a:solidFill>
            <a:srgbClr val="111118"/>
          </a:solidFill>
          <a:ln w="9525">
            <a:solidFill>
              <a:srgbClr val="2A2A3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65760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54480" y="3474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人脈拓展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554480" y="3840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認識各行各業 AI 愛好者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846320" y="3337560"/>
            <a:ext cx="3840480" cy="1051560"/>
          </a:xfrm>
          <a:prstGeom prst="roundRect">
            <a:avLst>
              <a:gd name="adj" fmla="val 10435"/>
            </a:avLst>
          </a:prstGeom>
          <a:solidFill>
            <a:srgbClr val="111118"/>
          </a:solidFill>
          <a:ln w="9525">
            <a:solidFill>
              <a:srgbClr val="2A2A3A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365760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669280" y="3474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學伴配對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5669280" y="3840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找到志同道合的學習夥伴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F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SUPPORT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行政支援｜全方位後勤服務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專業行政團隊處理所有細節，讓你專注於學習。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3840480" cy="1051560"/>
          </a:xfrm>
          <a:prstGeom prst="roundRect">
            <a:avLst>
              <a:gd name="adj" fmla="val 10435"/>
            </a:avLst>
          </a:prstGeom>
          <a:solidFill>
            <a:srgbClr val="111118"/>
          </a:solidFill>
          <a:ln w="9525">
            <a:solidFill>
              <a:srgbClr val="2A2A3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4231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專屬客服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54480" y="2606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快速回應你的每一個問題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46320" y="2103120"/>
            <a:ext cx="3840480" cy="1051560"/>
          </a:xfrm>
          <a:prstGeom prst="roundRect">
            <a:avLst>
              <a:gd name="adj" fmla="val 10435"/>
            </a:avLst>
          </a:prstGeom>
          <a:solidFill>
            <a:srgbClr val="111118"/>
          </a:solidFill>
          <a:ln w="9525">
            <a:solidFill>
              <a:srgbClr val="2A2A3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242316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69280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課程提醒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669280" y="2606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自動提醒課程時間與作業截止日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731520" y="3337560"/>
            <a:ext cx="3840480" cy="1051560"/>
          </a:xfrm>
          <a:prstGeom prst="roundRect">
            <a:avLst>
              <a:gd name="adj" fmla="val 10435"/>
            </a:avLst>
          </a:prstGeom>
          <a:solidFill>
            <a:srgbClr val="111118"/>
          </a:solidFill>
          <a:ln w="9525">
            <a:solidFill>
              <a:srgbClr val="2A2A3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65760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54480" y="3474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彈性排程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554480" y="3840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配合你的時間表安排學習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846320" y="3337560"/>
            <a:ext cx="3840480" cy="1051560"/>
          </a:xfrm>
          <a:prstGeom prst="roundRect">
            <a:avLst>
              <a:gd name="adj" fmla="val 10435"/>
            </a:avLst>
          </a:prstGeom>
          <a:solidFill>
            <a:srgbClr val="111118"/>
          </a:solidFill>
          <a:ln w="9525">
            <a:solidFill>
              <a:srgbClr val="2A2A3A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365760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669280" y="3474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資源配送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5669280" y="3840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定期彙整學習資源與模板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F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STORIES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學員成果展示｜真實轉型故事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111118"/>
          </a:solidFill>
          <a:ln w="9525">
            <a:solidFill>
              <a:srgbClr val="2A2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0" y="1965960"/>
            <a:ext cx="685800" cy="685800"/>
          </a:xfrm>
          <a:prstGeom prst="ellipse">
            <a:avLst/>
          </a:prstGeom>
          <a:solidFill>
            <a:srgbClr val="1A1A2E"/>
          </a:solidFill>
          <a:ln w="25400">
            <a:solidFill>
              <a:srgbClr val="7CFF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0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F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李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7889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李小明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20040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轉型前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34290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行銷專員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65760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CF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38404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F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行銷經理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411480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耗時 3 個月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566160" y="173736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111118"/>
          </a:solidFill>
          <a:ln w="9525">
            <a:solidFill>
              <a:srgbClr val="2A2A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80560" y="1965960"/>
            <a:ext cx="685800" cy="685800"/>
          </a:xfrm>
          <a:prstGeom prst="ellipse">
            <a:avLst/>
          </a:prstGeom>
          <a:solidFill>
            <a:srgbClr val="1A1A2E"/>
          </a:solidFill>
          <a:ln w="25400">
            <a:solidFill>
              <a:srgbClr val="5B8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0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王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749040" y="27889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王文華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749040" y="320040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轉型前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749040" y="34290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平面設計師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749040" y="365760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CF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749040" y="38404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F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創意總監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749040" y="411480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耗時 4 個月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00800" y="173736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111118"/>
          </a:solidFill>
          <a:ln w="9525">
            <a:solidFill>
              <a:srgbClr val="2A2A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0" y="1965960"/>
            <a:ext cx="685800" cy="685800"/>
          </a:xfrm>
          <a:prstGeom prst="ellipse">
            <a:avLst/>
          </a:prstGeom>
          <a:solidFill>
            <a:srgbClr val="1A1A2E"/>
          </a:solidFill>
          <a:ln w="25400">
            <a:solidFill>
              <a:srgbClr val="A855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0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陳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583680" y="27889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陳美嘉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583680" y="320040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轉型前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583680" y="34290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行政助理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83680" y="365760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CF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583680" y="38404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F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自動化專家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583680" y="411480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耗時 5 個月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F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METRICS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數據證明實力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1920240" cy="2286000"/>
          </a:xfrm>
          <a:prstGeom prst="roundRect">
            <a:avLst>
              <a:gd name="adj" fmla="val 5714"/>
            </a:avLst>
          </a:prstGeom>
          <a:solidFill>
            <a:srgbClr val="111118"/>
          </a:solidFill>
          <a:ln w="9525">
            <a:solidFill>
              <a:srgbClr val="2A2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057400"/>
            <a:ext cx="731520" cy="731520"/>
          </a:xfrm>
          <a:prstGeom prst="ellipse">
            <a:avLst/>
          </a:prstGeom>
          <a:solidFill>
            <a:srgbClr val="1A1A2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21945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29718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CF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594360" y="3474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活躍會員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651760" y="1828800"/>
            <a:ext cx="1920240" cy="2286000"/>
          </a:xfrm>
          <a:prstGeom prst="roundRect">
            <a:avLst>
              <a:gd name="adj" fmla="val 5714"/>
            </a:avLst>
          </a:prstGeom>
          <a:solidFill>
            <a:srgbClr val="111118"/>
          </a:solidFill>
          <a:ln w="9525">
            <a:solidFill>
              <a:srgbClr val="2A2A3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46120" y="2057400"/>
            <a:ext cx="731520" cy="731520"/>
          </a:xfrm>
          <a:prstGeom prst="ellipse">
            <a:avLst/>
          </a:prstGeom>
          <a:solidFill>
            <a:srgbClr val="1A1A2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219456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43200" y="29718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B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200+</a:t>
            </a:r>
            <a:endParaRPr lang="en-US" sz="3200" dirty="0"/>
          </a:p>
        </p:txBody>
      </p:sp>
      <p:sp>
        <p:nvSpPr>
          <p:cNvPr id="13" name="Text 9"/>
          <p:cNvSpPr/>
          <p:nvPr/>
        </p:nvSpPr>
        <p:spPr>
          <a:xfrm>
            <a:off x="2743200" y="3474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工具涵蓋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800600" y="1828800"/>
            <a:ext cx="1920240" cy="2286000"/>
          </a:xfrm>
          <a:prstGeom prst="roundRect">
            <a:avLst>
              <a:gd name="adj" fmla="val 5714"/>
            </a:avLst>
          </a:prstGeom>
          <a:solidFill>
            <a:srgbClr val="111118"/>
          </a:solidFill>
          <a:ln w="9525">
            <a:solidFill>
              <a:srgbClr val="2A2A3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394960" y="2057400"/>
            <a:ext cx="731520" cy="731520"/>
          </a:xfrm>
          <a:prstGeom prst="ellipse">
            <a:avLst/>
          </a:prstGeom>
          <a:solidFill>
            <a:srgbClr val="1A1A2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219456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892040" y="29718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48h</a:t>
            </a:r>
            <a:endParaRPr lang="en-US" sz="3200" dirty="0"/>
          </a:p>
        </p:txBody>
      </p:sp>
      <p:sp>
        <p:nvSpPr>
          <p:cNvPr id="18" name="Text 13"/>
          <p:cNvSpPr/>
          <p:nvPr/>
        </p:nvSpPr>
        <p:spPr>
          <a:xfrm>
            <a:off x="4892040" y="3474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每週內容產出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949440" y="1828800"/>
            <a:ext cx="1920240" cy="2286000"/>
          </a:xfrm>
          <a:prstGeom prst="roundRect">
            <a:avLst>
              <a:gd name="adj" fmla="val 5714"/>
            </a:avLst>
          </a:prstGeom>
          <a:solidFill>
            <a:srgbClr val="111118"/>
          </a:solidFill>
          <a:ln w="9525">
            <a:solidFill>
              <a:srgbClr val="2A2A3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543800" y="2057400"/>
            <a:ext cx="731520" cy="731520"/>
          </a:xfrm>
          <a:prstGeom prst="ellipse">
            <a:avLst/>
          </a:prstGeom>
          <a:solidFill>
            <a:srgbClr val="1A1A2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219456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40880" y="29718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9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3200" dirty="0"/>
          </a:p>
        </p:txBody>
      </p:sp>
      <p:sp>
        <p:nvSpPr>
          <p:cNvPr id="23" name="Text 17"/>
          <p:cNvSpPr/>
          <p:nvPr/>
        </p:nvSpPr>
        <p:spPr>
          <a:xfrm>
            <a:off x="7040880" y="3474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職涯應用率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F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TESTIMONIALS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學員見證｜真實回饋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111118"/>
          </a:solidFill>
          <a:ln w="9525">
            <a:solidFill>
              <a:srgbClr val="2A2A3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96596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237744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加入學院後，我的工作效率提升了 3 倍，主管也開始讓我帶領 AI 專案。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1005840" y="3611880"/>
            <a:ext cx="2057400" cy="18288"/>
          </a:xfrm>
          <a:prstGeom prst="rect">
            <a:avLst/>
          </a:prstGeom>
          <a:solidFill>
            <a:srgbClr val="2A2A3A"/>
          </a:solidFill>
          <a:ln/>
        </p:spPr>
      </p:sp>
      <p:sp>
        <p:nvSpPr>
          <p:cNvPr id="8" name="Text 5"/>
          <p:cNvSpPr/>
          <p:nvPr/>
        </p:nvSpPr>
        <p:spPr>
          <a:xfrm>
            <a:off x="960120" y="3749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F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張志偉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60120" y="402336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轉 AI PM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566160" y="173736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111118"/>
          </a:solidFill>
          <a:ln w="9525">
            <a:solidFill>
              <a:srgbClr val="2A2A3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196596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94760" y="237744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從零開始學習 AI，現在已經能獨立用 AI 工具處理所有內容行銷工作。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840480" y="3611880"/>
            <a:ext cx="2057400" cy="18288"/>
          </a:xfrm>
          <a:prstGeom prst="rect">
            <a:avLst/>
          </a:prstGeom>
          <a:solidFill>
            <a:srgbClr val="2A2A3A"/>
          </a:solidFill>
          <a:ln/>
        </p:spPr>
      </p:sp>
      <p:sp>
        <p:nvSpPr>
          <p:cNvPr id="14" name="Text 10"/>
          <p:cNvSpPr/>
          <p:nvPr/>
        </p:nvSpPr>
        <p:spPr>
          <a:xfrm>
            <a:off x="3794760" y="3749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F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林雅婷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794760" y="402336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行銷專員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400800" y="173736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111118"/>
          </a:solidFill>
          <a:ln w="9525">
            <a:solidFill>
              <a:srgbClr val="2A2A3A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196596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29400" y="237744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導師的職涯建議非常實用，幫助我成功轉型到 AI 工程師嶗位。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675120" y="3611880"/>
            <a:ext cx="2057400" cy="18288"/>
          </a:xfrm>
          <a:prstGeom prst="rect">
            <a:avLst/>
          </a:prstGeom>
          <a:solidFill>
            <a:srgbClr val="2A2A3A"/>
          </a:solidFill>
          <a:ln/>
        </p:spPr>
      </p:sp>
      <p:sp>
        <p:nvSpPr>
          <p:cNvPr id="20" name="Text 15"/>
          <p:cNvSpPr/>
          <p:nvPr/>
        </p:nvSpPr>
        <p:spPr>
          <a:xfrm>
            <a:off x="6629400" y="3749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F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黃建豪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629400" y="402336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軟體工程師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F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方案與定價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51760" cy="3063240"/>
          </a:xfrm>
          <a:prstGeom prst="roundRect">
            <a:avLst>
              <a:gd name="adj" fmla="val 4138"/>
            </a:avLst>
          </a:prstGeom>
          <a:solidFill>
            <a:srgbClr val="111118"/>
          </a:solidFill>
          <a:ln w="9525">
            <a:solidFill>
              <a:srgbClr val="2A2A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74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基礎方案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NT$ 1,990/月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2651760"/>
            <a:ext cx="2103120" cy="18288"/>
          </a:xfrm>
          <a:prstGeom prst="rect">
            <a:avLst/>
          </a:prstGeom>
          <a:solidFill>
            <a:srgbClr val="2A2A3A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788920"/>
            <a:ext cx="2103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每日 AI 知識推送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每週課程完整回放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AI 工具庫存取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學員社群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74720" y="1554480"/>
            <a:ext cx="2651760" cy="3246120"/>
          </a:xfrm>
          <a:prstGeom prst="roundRect">
            <a:avLst>
              <a:gd name="adj" fmla="val 4138"/>
            </a:avLst>
          </a:prstGeom>
          <a:solidFill>
            <a:srgbClr val="131325"/>
          </a:solidFill>
          <a:ln w="9525">
            <a:solidFill>
              <a:srgbClr val="2A2A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1554480"/>
            <a:ext cx="2651760" cy="54864"/>
          </a:xfrm>
          <a:prstGeom prst="rect">
            <a:avLst/>
          </a:prstGeom>
          <a:solidFill>
            <a:srgbClr val="7CFFB2"/>
          </a:solidFill>
          <a:ln/>
        </p:spPr>
      </p:sp>
      <p:sp>
        <p:nvSpPr>
          <p:cNvPr id="11" name="Shape 9"/>
          <p:cNvSpPr/>
          <p:nvPr/>
        </p:nvSpPr>
        <p:spPr>
          <a:xfrm>
            <a:off x="4114800" y="1389888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7CFFB2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0" y="138988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909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最受歡迎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0" y="1783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進階方案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F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NT$ 3,990/月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749040" y="2560320"/>
            <a:ext cx="2103120" cy="18288"/>
          </a:xfrm>
          <a:prstGeom prst="rect">
            <a:avLst/>
          </a:prstGeom>
          <a:solidFill>
            <a:srgbClr val="2A2A3A"/>
          </a:solidFill>
          <a:ln/>
        </p:spPr>
      </p:sp>
      <p:sp>
        <p:nvSpPr>
          <p:cNvPr id="16" name="Text 14"/>
          <p:cNvSpPr/>
          <p:nvPr/>
        </p:nvSpPr>
        <p:spPr>
          <a:xfrm>
            <a:off x="3794760" y="2697480"/>
            <a:ext cx="21031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包含基礎方案所有內容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每月大師班參加權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n8n 自動化模板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專案媒合機會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行政支援服務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0" y="1645920"/>
            <a:ext cx="2651760" cy="3063240"/>
          </a:xfrm>
          <a:prstGeom prst="roundRect">
            <a:avLst>
              <a:gd name="adj" fmla="val 4138"/>
            </a:avLst>
          </a:prstGeom>
          <a:solidFill>
            <a:srgbClr val="111118"/>
          </a:solidFill>
          <a:ln w="9525">
            <a:solidFill>
              <a:srgbClr val="2A2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1874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菁英方案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8368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NT$ 6,990/月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675120" y="2651760"/>
            <a:ext cx="2103120" cy="18288"/>
          </a:xfrm>
          <a:prstGeom prst="rect">
            <a:avLst/>
          </a:prstGeom>
          <a:solidFill>
            <a:srgbClr val="2A2A3A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840" y="2788920"/>
            <a:ext cx="2103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包含進階方案所有內容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一對一導師制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優先專案媒合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Prompt 資料庫完整存取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專屬職涯規劃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F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FAQ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常見問題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7680960" cy="713232"/>
          </a:xfrm>
          <a:prstGeom prst="roundRect">
            <a:avLst>
              <a:gd name="adj" fmla="val 15385"/>
            </a:avLst>
          </a:prstGeom>
          <a:solidFill>
            <a:srgbClr val="111118"/>
          </a:solidFill>
          <a:ln w="9525">
            <a:solidFill>
              <a:srgbClr val="2A2A3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56232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7647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我沒有技術背景，適合加入嗎？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554480" y="20574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完全適合！我們的課程從零基礎開始，導師會根據你的程度調整教學。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31520" y="2514600"/>
            <a:ext cx="7680960" cy="713232"/>
          </a:xfrm>
          <a:prstGeom prst="roundRect">
            <a:avLst>
              <a:gd name="adj" fmla="val 15385"/>
            </a:avLst>
          </a:prstGeom>
          <a:solidFill>
            <a:srgbClr val="111118"/>
          </a:solidFill>
          <a:ln w="9525">
            <a:solidFill>
              <a:srgbClr val="2A2A3A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679192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258775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每週需要投入多少時間？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554480" y="288036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建議每週 3-5 小時，但可根據個人節奏彈性調整。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731520" y="3337560"/>
            <a:ext cx="7680960" cy="713232"/>
          </a:xfrm>
          <a:prstGeom prst="roundRect">
            <a:avLst>
              <a:gd name="adj" fmla="val 15385"/>
            </a:avLst>
          </a:prstGeom>
          <a:solidFill>
            <a:srgbClr val="111118"/>
          </a:solidFill>
          <a:ln w="9525">
            <a:solidFill>
              <a:srgbClr val="2A2A3A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502152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341071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可以隨時取消訂閱嗎？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554480" y="37033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可以，無綁定合約，隨時可以取消或升降級方案。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731520" y="4160520"/>
            <a:ext cx="7680960" cy="713232"/>
          </a:xfrm>
          <a:prstGeom prst="roundRect">
            <a:avLst>
              <a:gd name="adj" fmla="val 15385"/>
            </a:avLst>
          </a:prstGeom>
          <a:solidFill>
            <a:srgbClr val="111118"/>
          </a:solidFill>
          <a:ln w="9525">
            <a:solidFill>
              <a:srgbClr val="2A2A3A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325112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54480" y="423367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課程內容多久更新一次？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554480" y="452628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每日更新 AI 資訊，每週新增實戰課程，每月大師班。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5486400" cy="5486400"/>
          </a:xfrm>
          <a:prstGeom prst="ellipse">
            <a:avLst/>
          </a:prstGeom>
          <a:solidFill>
            <a:srgbClr val="7CFFB2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2286000"/>
            <a:ext cx="4572000" cy="4572000"/>
          </a:xfrm>
          <a:prstGeom prst="ellipse">
            <a:avLst/>
          </a:prstGeom>
          <a:solidFill>
            <a:srgbClr val="5B8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立即開啟你的 AI 轉型之路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加入 AI 未來學院，讓 AI 成為你職涯的最大助力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242316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377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無綁定合約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2423160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977640" y="2377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天免費試用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2423160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989320" y="2377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專屬學習規劃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2926080" y="3108960"/>
            <a:ext cx="3291840" cy="640080"/>
          </a:xfrm>
          <a:prstGeom prst="roundRect">
            <a:avLst>
              <a:gd name="adj" fmla="val 50000"/>
            </a:avLst>
          </a:prstGeom>
          <a:solidFill>
            <a:srgbClr val="7CFFB2"/>
          </a:solidFill>
          <a:ln/>
        </p:spPr>
      </p:sp>
      <p:sp>
        <p:nvSpPr>
          <p:cNvPr id="13" name="Text 8"/>
          <p:cNvSpPr/>
          <p:nvPr/>
        </p:nvSpPr>
        <p:spPr>
          <a:xfrm>
            <a:off x="2926080" y="31089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909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立即加入  →</a:t>
            </a:r>
            <a:endParaRPr lang="en-US" sz="1800" dirty="0"/>
          </a:p>
        </p:txBody>
      </p:sp>
      <p:sp>
        <p:nvSpPr>
          <p:cNvPr id="14" name="Shape 9"/>
          <p:cNvSpPr/>
          <p:nvPr/>
        </p:nvSpPr>
        <p:spPr>
          <a:xfrm>
            <a:off x="3200400" y="3931920"/>
            <a:ext cx="2743200" cy="502920"/>
          </a:xfrm>
          <a:prstGeom prst="roundRect">
            <a:avLst>
              <a:gd name="adj" fmla="val 50909"/>
            </a:avLst>
          </a:prstGeom>
          <a:solidFill>
            <a:srgbClr val="09090F"/>
          </a:solidFill>
          <a:ln w="19050">
            <a:solidFill>
              <a:srgbClr val="7CFFB2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3200400" y="39319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F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預約免費諮詢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7CFFB2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</a:t>
            </a:r>
            <a:pPr algn="ctr" indent="0" marL="0">
              <a:buNone/>
            </a:pPr>
            <a:r>
              <a:rPr lang="en-US" sz="4000" b="1" dirty="0">
                <a:solidFill>
                  <a:srgbClr val="7CF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未來學院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 AI 重新定義你的職涯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0" y="2468880"/>
            <a:ext cx="1828800" cy="36576"/>
          </a:xfrm>
          <a:prstGeom prst="rect">
            <a:avLst/>
          </a:prstGeom>
          <a:solidFill>
            <a:srgbClr val="7CFFB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28803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154680" y="2834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contact@aifuture.academy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338328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154680" y="3337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官方帳號：@aifuture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388620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154680" y="3840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 &amp; Instagram：AI未來學院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AI 未來學院  |  All Rights Reserved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AI未來學院 銷售簡報</dc:title>
  <dc:subject>PptxGenJS Presentation</dc:subject>
  <dc:creator>AI未來學院</dc:creator>
  <cp:lastModifiedBy>AI未來學院</cp:lastModifiedBy>
  <cp:revision>1</cp:revision>
  <dcterms:created xsi:type="dcterms:W3CDTF">2026-03-15T16:51:22Z</dcterms:created>
  <dcterms:modified xsi:type="dcterms:W3CDTF">2026-03-15T16:51:22Z</dcterms:modified>
</cp:coreProperties>
</file>